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8497B0"/>
    <a:srgbClr val="9DC3E6"/>
    <a:srgbClr val="BFBFBF"/>
    <a:srgbClr val="A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1781-87E9-4277-AF09-F2DFAB8DA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030EA-B32C-40EA-8445-7083F383F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3094F-EF36-4789-8E42-41B9AA4B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B27F5-95D0-4020-9BD8-B8A39439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98140-F616-463E-A7F8-7C5F6D8A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7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2F2D-E777-427B-A910-E88043FA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CD8B-5370-4C8B-AA02-786D48AA9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10046-CA7A-4E9A-94F1-C5F9DB3C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EF874-E589-49E0-971B-5A115B54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3DDCB-25D2-4464-863A-5A257AA7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2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5A6E-984F-4D54-97E4-6E0124FD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B8283-DBDC-4047-8EA0-6955475BD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52FD5-5A34-452E-9DB8-48BAC085C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64EC8-EDC5-4DC8-A5FD-DB78F5DB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BC6E6-CF70-4083-A305-7EEEF3DE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0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90A7-F3E3-41AD-8A4D-4F7F4F1F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48DE0-A5C7-4C8D-BC07-76694BE9A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B1C4F-5DAF-48B7-AA9D-E5B26EA92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0BD35-664B-4E8A-97C0-0DF3E10F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D761E-9FDF-4890-8DD3-B626D57F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7D0AD-2831-4E36-BE3E-8CEADBE6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6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FC2C-D747-4062-B1B1-0E1BE547C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E5219-7E35-4D33-9D9D-61F7F4320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BA3C3-857C-46C0-BD45-FA190C8AF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4751F-9524-4FAF-8884-A7A105CF7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F41E4-6BE5-4C35-987F-0FE5F6C6B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C25E9-43C8-4244-AAF0-EF438D08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7929F-5AEF-405E-8389-605955B8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2B891-E395-4C35-A5A2-62F34BA5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6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06EE-2F43-4746-AEC4-CBBD23A7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9AB80-ED57-4CFC-8D39-98E432CA6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00095-2A26-4E67-A022-DA6EDD90B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5A706-3BCB-4493-897D-51B2DB04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8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A864E4-FBC0-4AB3-A8CF-B20C0689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D84D1-933A-46EA-B95A-1932E158E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300A-6594-4A3B-B94E-9D2D80A2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9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A2BB-8BC2-4B45-A1D9-FB386739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7A8C7-BD71-4960-B3A3-77C1D447D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F0966-7105-4D39-B028-E4CEDB689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2DDB4-8A46-4798-85B7-62465211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BF318-FFC3-416F-8AE3-5A81B584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51760-7CE8-4B61-B1CE-9ABB39D1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6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73EE-291E-4754-BD33-AC94E72D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80D21-A398-426B-B8A4-373011A6C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608BE-CF0E-4ADF-9B03-A2379C423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54056-BE7D-4251-9F5D-79A8C84A9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C19FD-8E45-443F-B0FA-5C4DD240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D7707-CED3-4B3B-8570-1A6495C7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BDC7-EFDC-4192-A620-1D5B3E51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561E0-8445-4631-AC44-7F9037DDB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B5CB7-18F4-4FD2-ACBE-302F12BE4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B3AB3-513B-468C-805F-C664E4FA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062A3-6700-4A8A-AC49-48DF0B72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8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BA0C77-E6E5-4B59-A41C-B48B7E0B5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9C9B0-52CA-4B7E-B4FF-2155876A9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AD16B-7E9A-4A81-966D-2A902A784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76AD3-4407-4ADD-A256-FE86DB746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F9ECD-28A0-496D-B707-791535E9A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1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20096E-DEE8-4645-890D-9CA8FD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F41F5-CB59-4206-A01F-4471EF6F3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C9A0E-E643-49CD-AC09-68FD9A24D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6B400-0FF6-45CE-B963-C5FE6C57F64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DEA0F-5D19-4931-BD68-DE5708AC0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FD5A-C7CB-4D73-B81E-D31ECEA17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CAE62-1492-4C9B-A864-ADEDBDBB6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7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7CE06-4501-43D5-9AA6-A6E6BF84A316}"/>
              </a:ext>
            </a:extLst>
          </p:cNvPr>
          <p:cNvSpPr txBox="1"/>
          <p:nvPr/>
        </p:nvSpPr>
        <p:spPr>
          <a:xfrm>
            <a:off x="-10877550" y="2828835"/>
            <a:ext cx="10877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Overall Flow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7DFE8-1068-4283-AE49-12BC8DA8A001}"/>
              </a:ext>
            </a:extLst>
          </p:cNvPr>
          <p:cNvSpPr txBox="1"/>
          <p:nvPr/>
        </p:nvSpPr>
        <p:spPr>
          <a:xfrm>
            <a:off x="333375" y="1720839"/>
            <a:ext cx="11525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Supervised Learning Capstone: </a:t>
            </a:r>
          </a:p>
          <a:p>
            <a:endParaRPr lang="en-US" sz="7200" b="1" dirty="0">
              <a:solidFill>
                <a:schemeClr val="bg1"/>
              </a:solidFill>
              <a:latin typeface="PMingLiU-ExtB" panose="02020500000000000000" pitchFamily="18" charset="-120"/>
              <a:ea typeface="PMingLiU-ExtB" panose="02020500000000000000" pitchFamily="18" charset="-12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-6066235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-6336296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001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-6066235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-6336296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D8DCABA-80F0-40B4-8EC3-C1192A0779E3}"/>
              </a:ext>
            </a:extLst>
          </p:cNvPr>
          <p:cNvSpPr txBox="1"/>
          <p:nvPr/>
        </p:nvSpPr>
        <p:spPr>
          <a:xfrm>
            <a:off x="333375" y="1716788"/>
            <a:ext cx="115252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Supervised Learning Capstone: </a:t>
            </a:r>
          </a:p>
          <a:p>
            <a:r>
              <a:rPr lang="en-US" sz="4800" b="1" dirty="0">
                <a:solidFill>
                  <a:schemeClr val="bg1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Ames Housing Price Prediction</a:t>
            </a:r>
          </a:p>
          <a:p>
            <a:endParaRPr lang="en-US" sz="7200" b="1" dirty="0"/>
          </a:p>
          <a:p>
            <a:endParaRPr lang="en-US" sz="7200" b="1" dirty="0">
              <a:solidFill>
                <a:schemeClr val="bg1"/>
              </a:solidFill>
              <a:latin typeface="PMingLiU-ExtB" panose="02020500000000000000" pitchFamily="18" charset="-120"/>
              <a:ea typeface="PMingLiU-ExtB" panose="02020500000000000000" pitchFamily="18" charset="-120"/>
            </a:endParaRPr>
          </a:p>
          <a:p>
            <a:endParaRPr lang="en-US" sz="7200" b="1" dirty="0">
              <a:solidFill>
                <a:schemeClr val="bg1"/>
              </a:solidFill>
              <a:latin typeface="PMingLiU-ExtB" panose="02020500000000000000" pitchFamily="18" charset="-120"/>
              <a:ea typeface="PMingLiU-ExtB" panose="02020500000000000000" pitchFamily="18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AA0015-D3A4-4E67-80A1-71A22B7A794E}"/>
              </a:ext>
            </a:extLst>
          </p:cNvPr>
          <p:cNvSpPr txBox="1"/>
          <p:nvPr/>
        </p:nvSpPr>
        <p:spPr>
          <a:xfrm>
            <a:off x="-10877550" y="2828835"/>
            <a:ext cx="10877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Overall Flow of the Project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21B81E-DDCA-4865-A23D-5FFE01179B1F}"/>
              </a:ext>
            </a:extLst>
          </p:cNvPr>
          <p:cNvSpPr txBox="1"/>
          <p:nvPr/>
        </p:nvSpPr>
        <p:spPr>
          <a:xfrm>
            <a:off x="-10877550" y="1991821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</p:spTree>
    <p:extLst>
      <p:ext uri="{BB962C8B-B14F-4D97-AF65-F5344CB8AC3E}">
        <p14:creationId xmlns:p14="http://schemas.microsoft.com/office/powerpoint/2010/main" val="42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-6066235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-6336296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D8DCABA-80F0-40B4-8EC3-C1192A0779E3}"/>
              </a:ext>
            </a:extLst>
          </p:cNvPr>
          <p:cNvSpPr txBox="1"/>
          <p:nvPr/>
        </p:nvSpPr>
        <p:spPr>
          <a:xfrm>
            <a:off x="333375" y="8224521"/>
            <a:ext cx="115252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Supervised Learning Capstone: </a:t>
            </a:r>
          </a:p>
          <a:p>
            <a:r>
              <a:rPr lang="en-US" sz="4800" b="1" dirty="0">
                <a:solidFill>
                  <a:schemeClr val="bg1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Ames Housing Price Prediction</a:t>
            </a:r>
          </a:p>
          <a:p>
            <a:endParaRPr lang="en-US" sz="7200" b="1" dirty="0"/>
          </a:p>
          <a:p>
            <a:endParaRPr lang="en-US" sz="7200" b="1" dirty="0">
              <a:solidFill>
                <a:schemeClr val="bg1"/>
              </a:solidFill>
              <a:latin typeface="PMingLiU-ExtB" panose="02020500000000000000" pitchFamily="18" charset="-120"/>
              <a:ea typeface="PMingLiU-ExtB" panose="02020500000000000000" pitchFamily="18" charset="-120"/>
            </a:endParaRPr>
          </a:p>
          <a:p>
            <a:endParaRPr lang="en-US" sz="7200" b="1" dirty="0">
              <a:solidFill>
                <a:schemeClr val="bg1"/>
              </a:solidFill>
              <a:latin typeface="PMingLiU-ExtB" panose="02020500000000000000" pitchFamily="18" charset="-120"/>
              <a:ea typeface="PMingLiU-ExtB" panose="02020500000000000000" pitchFamily="18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AA0015-D3A4-4E67-80A1-71A22B7A794E}"/>
              </a:ext>
            </a:extLst>
          </p:cNvPr>
          <p:cNvSpPr txBox="1"/>
          <p:nvPr/>
        </p:nvSpPr>
        <p:spPr>
          <a:xfrm>
            <a:off x="333375" y="2828835"/>
            <a:ext cx="10877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Overall Flow of the Project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21B81E-DDCA-4865-A23D-5FFE01179B1F}"/>
              </a:ext>
            </a:extLst>
          </p:cNvPr>
          <p:cNvSpPr txBox="1"/>
          <p:nvPr/>
        </p:nvSpPr>
        <p:spPr>
          <a:xfrm>
            <a:off x="333375" y="1991821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</p:spTree>
    <p:extLst>
      <p:ext uri="{BB962C8B-B14F-4D97-AF65-F5344CB8AC3E}">
        <p14:creationId xmlns:p14="http://schemas.microsoft.com/office/powerpoint/2010/main" val="894885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-6336296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7AA0015-D3A4-4E67-80A1-71A22B7A794E}"/>
              </a:ext>
            </a:extLst>
          </p:cNvPr>
          <p:cNvSpPr txBox="1"/>
          <p:nvPr/>
        </p:nvSpPr>
        <p:spPr>
          <a:xfrm>
            <a:off x="333375" y="9085664"/>
            <a:ext cx="10877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Overall Flow of the Project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21B81E-DDCA-4865-A23D-5FFE01179B1F}"/>
              </a:ext>
            </a:extLst>
          </p:cNvPr>
          <p:cNvSpPr txBox="1"/>
          <p:nvPr/>
        </p:nvSpPr>
        <p:spPr>
          <a:xfrm>
            <a:off x="333375" y="8248650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</p:spTree>
    <p:extLst>
      <p:ext uri="{BB962C8B-B14F-4D97-AF65-F5344CB8AC3E}">
        <p14:creationId xmlns:p14="http://schemas.microsoft.com/office/powerpoint/2010/main" val="246900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-6336296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7AA0015-D3A4-4E67-80A1-71A22B7A794E}"/>
              </a:ext>
            </a:extLst>
          </p:cNvPr>
          <p:cNvSpPr txBox="1"/>
          <p:nvPr/>
        </p:nvSpPr>
        <p:spPr>
          <a:xfrm>
            <a:off x="333375" y="9085664"/>
            <a:ext cx="10877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Overall Flow of the Project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21B81E-DDCA-4865-A23D-5FFE01179B1F}"/>
              </a:ext>
            </a:extLst>
          </p:cNvPr>
          <p:cNvSpPr txBox="1"/>
          <p:nvPr/>
        </p:nvSpPr>
        <p:spPr>
          <a:xfrm>
            <a:off x="333375" y="8248650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87CEF2-38BC-463A-83F9-E9964440E1D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458309"/>
          <a:ext cx="8127999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76200" dist="12700" dir="2700000" sy="-23000" kx="-800400" algn="bl" rotWithShape="0">
                    <a:prstClr val="black">
                      <a:alpha val="38000"/>
                    </a:prstClr>
                  </a:outerShdw>
                </a:effectLst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42178885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559723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5198665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3438581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06948974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79639080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19450254"/>
                    </a:ext>
                  </a:extLst>
                </a:gridCol>
                <a:gridCol w="645080">
                  <a:extLst>
                    <a:ext uri="{9D8B030D-6E8A-4147-A177-3AD203B41FA5}">
                      <a16:colId xmlns:a16="http://schemas.microsoft.com/office/drawing/2014/main" val="2472679254"/>
                    </a:ext>
                  </a:extLst>
                </a:gridCol>
                <a:gridCol w="1161142">
                  <a:extLst>
                    <a:ext uri="{9D8B030D-6E8A-4147-A177-3AD203B41FA5}">
                      <a16:colId xmlns:a16="http://schemas.microsoft.com/office/drawing/2014/main" val="2213143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SalePrice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71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6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648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52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496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6D1651A-30BC-4531-97E6-22713DB5A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38850" y="4405339"/>
            <a:ext cx="2676899" cy="2076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D1C2E3-C1E5-4DBB-A971-2B1054F40D15}"/>
              </a:ext>
            </a:extLst>
          </p:cNvPr>
          <p:cNvSpPr txBox="1"/>
          <p:nvPr/>
        </p:nvSpPr>
        <p:spPr>
          <a:xfrm>
            <a:off x="13792200" y="4405339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C2F15B-00E7-4CC1-A918-550DEA346275}"/>
              </a:ext>
            </a:extLst>
          </p:cNvPr>
          <p:cNvSpPr txBox="1"/>
          <p:nvPr/>
        </p:nvSpPr>
        <p:spPr>
          <a:xfrm>
            <a:off x="13106399" y="4405339"/>
            <a:ext cx="82296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 (Body)"/>
              </a:rPr>
              <a:t>To convert continuous ‘</a:t>
            </a:r>
            <a:r>
              <a:rPr lang="en-US" dirty="0" err="1">
                <a:solidFill>
                  <a:schemeClr val="bg1"/>
                </a:solidFill>
                <a:latin typeface="Calibri (Body)"/>
              </a:rPr>
              <a:t>SalePrice</a:t>
            </a:r>
            <a:r>
              <a:rPr lang="en-US" dirty="0">
                <a:solidFill>
                  <a:schemeClr val="bg1"/>
                </a:solidFill>
                <a:latin typeface="Calibri (Body)"/>
              </a:rPr>
              <a:t>’ numerical column into categorical Target variable with three tiers viz  (“Budget”, “Standard”, “Premium”, we implemented ‘Equal Frequency Binning’. </a:t>
            </a:r>
          </a:p>
          <a:p>
            <a:endParaRPr lang="en-US" dirty="0">
              <a:solidFill>
                <a:schemeClr val="bg1"/>
              </a:solidFill>
              <a:latin typeface="Calibri (Body)"/>
            </a:endParaRPr>
          </a:p>
          <a:p>
            <a:r>
              <a:rPr lang="en-US" dirty="0">
                <a:solidFill>
                  <a:schemeClr val="bg1"/>
                </a:solidFill>
                <a:effectLst/>
                <a:latin typeface="Calibri (Body)"/>
              </a:rPr>
              <a:t>This method uses quantiles to divide the data. It ensures that an </a:t>
            </a:r>
            <a:r>
              <a:rPr lang="en-US" b="1" dirty="0">
                <a:solidFill>
                  <a:schemeClr val="bg1"/>
                </a:solidFill>
                <a:effectLst/>
                <a:latin typeface="Calibri (Body)"/>
              </a:rPr>
              <a:t>equal number of rows</a:t>
            </a:r>
            <a:r>
              <a:rPr lang="en-US" dirty="0">
                <a:solidFill>
                  <a:schemeClr val="bg1"/>
                </a:solidFill>
                <a:effectLst/>
                <a:latin typeface="Calibri (Body)"/>
              </a:rPr>
              <a:t> falls into each bin (approximately 33.3% of your data per tier).</a:t>
            </a:r>
            <a:endParaRPr lang="en-US" dirty="0">
              <a:solidFill>
                <a:schemeClr val="bg1"/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71081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4405339"/>
            <a:ext cx="2676899" cy="20767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35ECCBA-0B3C-4F33-B741-E5E0D7A96F1E}"/>
              </a:ext>
            </a:extLst>
          </p:cNvPr>
          <p:cNvSpPr txBox="1"/>
          <p:nvPr/>
        </p:nvSpPr>
        <p:spPr>
          <a:xfrm>
            <a:off x="3962399" y="4405339"/>
            <a:ext cx="82296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 (Body)"/>
              </a:rPr>
              <a:t>To convert continuous ‘</a:t>
            </a:r>
            <a:r>
              <a:rPr lang="en-US" dirty="0" err="1">
                <a:solidFill>
                  <a:schemeClr val="bg1"/>
                </a:solidFill>
                <a:latin typeface="Calibri (Body)"/>
              </a:rPr>
              <a:t>SalePrice</a:t>
            </a:r>
            <a:r>
              <a:rPr lang="en-US" dirty="0">
                <a:solidFill>
                  <a:schemeClr val="bg1"/>
                </a:solidFill>
                <a:latin typeface="Calibri (Body)"/>
              </a:rPr>
              <a:t>’ numerical column into categorical Target variable with three tiers viz  (“Budget”, “Standard”, “Premium”, we implemented </a:t>
            </a:r>
            <a:r>
              <a:rPr lang="en-US" b="1" dirty="0">
                <a:solidFill>
                  <a:schemeClr val="bg1"/>
                </a:solidFill>
                <a:latin typeface="Calibri (Body)"/>
              </a:rPr>
              <a:t>‘Equal Frequency Binning’. </a:t>
            </a:r>
          </a:p>
          <a:p>
            <a:endParaRPr lang="en-US" dirty="0">
              <a:solidFill>
                <a:schemeClr val="bg1"/>
              </a:solidFill>
              <a:latin typeface="Calibri (Body)"/>
            </a:endParaRPr>
          </a:p>
          <a:p>
            <a:r>
              <a:rPr lang="en-US" dirty="0">
                <a:solidFill>
                  <a:schemeClr val="bg1"/>
                </a:solidFill>
                <a:effectLst/>
                <a:latin typeface="Calibri (Body)"/>
              </a:rPr>
              <a:t>This method uses quantiles to divide the data. It ensures that an </a:t>
            </a:r>
            <a:r>
              <a:rPr lang="en-US" b="1" dirty="0">
                <a:solidFill>
                  <a:schemeClr val="bg1"/>
                </a:solidFill>
                <a:effectLst/>
                <a:latin typeface="Calibri (Body)"/>
              </a:rPr>
              <a:t>equal number of rows</a:t>
            </a:r>
            <a:r>
              <a:rPr lang="en-US" dirty="0">
                <a:solidFill>
                  <a:schemeClr val="bg1"/>
                </a:solidFill>
                <a:effectLst/>
                <a:latin typeface="Calibri (Body)"/>
              </a:rPr>
              <a:t> falls into each bin (approximately 33.3% of your data per tier).</a:t>
            </a:r>
            <a:endParaRPr lang="en-US" dirty="0">
              <a:solidFill>
                <a:schemeClr val="bg1"/>
              </a:solidFill>
              <a:latin typeface="Calibri (Body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F7B8B6-1F48-4EFB-B299-155FE2508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288125"/>
              </p:ext>
            </p:extLst>
          </p:nvPr>
        </p:nvGraphicFramePr>
        <p:xfrm>
          <a:off x="-6634843" y="4405339"/>
          <a:ext cx="2405743" cy="161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743">
                  <a:extLst>
                    <a:ext uri="{9D8B030D-6E8A-4147-A177-3AD203B41FA5}">
                      <a16:colId xmlns:a16="http://schemas.microsoft.com/office/drawing/2014/main" val="3558230610"/>
                    </a:ext>
                  </a:extLst>
                </a:gridCol>
              </a:tblGrid>
              <a:tr h="40471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Price_Category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553939"/>
                  </a:ext>
                </a:extLst>
              </a:tr>
              <a:tr h="4047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261792"/>
                  </a:ext>
                </a:extLst>
              </a:tr>
              <a:tr h="4047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158504"/>
                  </a:ext>
                </a:extLst>
              </a:tr>
              <a:tr h="4047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Premium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33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841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-6596379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8748739"/>
            <a:ext cx="2676899" cy="20767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35ECCBA-0B3C-4F33-B741-E5E0D7A96F1E}"/>
              </a:ext>
            </a:extLst>
          </p:cNvPr>
          <p:cNvSpPr txBox="1"/>
          <p:nvPr/>
        </p:nvSpPr>
        <p:spPr>
          <a:xfrm>
            <a:off x="3962399" y="4405339"/>
            <a:ext cx="82296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 (Body)"/>
              </a:rPr>
              <a:t>To convert continuous ‘</a:t>
            </a:r>
            <a:r>
              <a:rPr lang="en-US" dirty="0" err="1">
                <a:solidFill>
                  <a:schemeClr val="bg1"/>
                </a:solidFill>
                <a:latin typeface="Calibri (Body)"/>
              </a:rPr>
              <a:t>SalePrice</a:t>
            </a:r>
            <a:r>
              <a:rPr lang="en-US" dirty="0">
                <a:solidFill>
                  <a:schemeClr val="bg1"/>
                </a:solidFill>
                <a:latin typeface="Calibri (Body)"/>
              </a:rPr>
              <a:t>’ numerical column into categorical Target variable with three tiers viz  (“Budget”, “Standard”, “Premium”, we implemented ‘Equal Frequency Binning’. </a:t>
            </a:r>
          </a:p>
          <a:p>
            <a:endParaRPr lang="en-US" dirty="0">
              <a:solidFill>
                <a:schemeClr val="bg1"/>
              </a:solidFill>
              <a:latin typeface="Calibri (Body)"/>
            </a:endParaRPr>
          </a:p>
          <a:p>
            <a:r>
              <a:rPr lang="en-US" dirty="0">
                <a:solidFill>
                  <a:schemeClr val="bg1"/>
                </a:solidFill>
                <a:effectLst/>
                <a:latin typeface="Calibri (Body)"/>
              </a:rPr>
              <a:t>This method uses quantiles to divide the data. It ensures that an </a:t>
            </a:r>
            <a:r>
              <a:rPr lang="en-US" b="1" dirty="0">
                <a:solidFill>
                  <a:schemeClr val="bg1"/>
                </a:solidFill>
                <a:effectLst/>
                <a:latin typeface="Calibri (Body)"/>
              </a:rPr>
              <a:t>equal number of rows</a:t>
            </a:r>
            <a:r>
              <a:rPr lang="en-US" dirty="0">
                <a:solidFill>
                  <a:schemeClr val="bg1"/>
                </a:solidFill>
                <a:effectLst/>
                <a:latin typeface="Calibri (Body)"/>
              </a:rPr>
              <a:t> falls into each bin (approximately 33.3% of your data per tier).</a:t>
            </a:r>
            <a:endParaRPr lang="en-US" dirty="0">
              <a:solidFill>
                <a:schemeClr val="bg1"/>
              </a:solidFill>
              <a:latin typeface="Calibri (Body)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1C80F6B-2AE9-45B3-A040-8E2EF987E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145192"/>
              </p:ext>
            </p:extLst>
          </p:nvPr>
        </p:nvGraphicFramePr>
        <p:xfrm>
          <a:off x="642750" y="4405339"/>
          <a:ext cx="2405743" cy="161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743">
                  <a:extLst>
                    <a:ext uri="{9D8B030D-6E8A-4147-A177-3AD203B41FA5}">
                      <a16:colId xmlns:a16="http://schemas.microsoft.com/office/drawing/2014/main" val="3558230610"/>
                    </a:ext>
                  </a:extLst>
                </a:gridCol>
              </a:tblGrid>
              <a:tr h="40471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Price_Category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553939"/>
                  </a:ext>
                </a:extLst>
              </a:tr>
              <a:tr h="4047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261792"/>
                  </a:ext>
                </a:extLst>
              </a:tr>
              <a:tr h="4047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158504"/>
                  </a:ext>
                </a:extLst>
              </a:tr>
              <a:tr h="4047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Premium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33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655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32208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8748739"/>
            <a:ext cx="2676899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21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32208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8748739"/>
            <a:ext cx="2676899" cy="207674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FF47C1-55E0-4F87-AB9A-95FEAC7DB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762651"/>
              </p:ext>
            </p:extLst>
          </p:nvPr>
        </p:nvGraphicFramePr>
        <p:xfrm>
          <a:off x="2365374" y="4415170"/>
          <a:ext cx="8128000" cy="184912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294276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92935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616118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40801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0947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81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4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366110"/>
                  </a:ext>
                </a:extLst>
              </a:tr>
              <a:tr h="263119"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45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872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32208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8748739"/>
            <a:ext cx="2676899" cy="207674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FF47C1-55E0-4F87-AB9A-95FEAC7DB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869935"/>
              </p:ext>
            </p:extLst>
          </p:nvPr>
        </p:nvGraphicFramePr>
        <p:xfrm>
          <a:off x="2365374" y="4415170"/>
          <a:ext cx="8128000" cy="184912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294276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92935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616118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40801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0947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81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4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366110"/>
                  </a:ext>
                </a:extLst>
              </a:tr>
              <a:tr h="263119"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45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315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32208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8748739"/>
            <a:ext cx="2676899" cy="207674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FF47C1-55E0-4F87-AB9A-95FEAC7DB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697655"/>
              </p:ext>
            </p:extLst>
          </p:nvPr>
        </p:nvGraphicFramePr>
        <p:xfrm>
          <a:off x="2365374" y="4415170"/>
          <a:ext cx="8128000" cy="184912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294276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92935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616118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40801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0947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81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4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366110"/>
                  </a:ext>
                </a:extLst>
              </a:tr>
              <a:tr h="263119"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45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309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32208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8748739"/>
            <a:ext cx="2676899" cy="207674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FF47C1-55E0-4F87-AB9A-95FEAC7DB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74415"/>
              </p:ext>
            </p:extLst>
          </p:nvPr>
        </p:nvGraphicFramePr>
        <p:xfrm>
          <a:off x="2365374" y="4415170"/>
          <a:ext cx="8128000" cy="184912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294276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92935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616118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40801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0947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81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4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366110"/>
                  </a:ext>
                </a:extLst>
              </a:tr>
              <a:tr h="263119"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45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480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4D4D"/>
            </a:gs>
            <a:gs pos="2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CAD5F1-3BAF-402E-A377-0ADF2728C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6AC82-215B-4ADB-8FE0-E5FA771FBCCD}"/>
              </a:ext>
            </a:extLst>
          </p:cNvPr>
          <p:cNvSpPr txBox="1"/>
          <p:nvPr/>
        </p:nvSpPr>
        <p:spPr>
          <a:xfrm>
            <a:off x="2714625" y="-2498646"/>
            <a:ext cx="6669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Checkpoint 1: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55E86B-6B46-4262-90E4-A930C02289E5}"/>
              </a:ext>
            </a:extLst>
          </p:cNvPr>
          <p:cNvGrpSpPr/>
          <p:nvPr/>
        </p:nvGrpSpPr>
        <p:grpSpPr>
          <a:xfrm>
            <a:off x="0" y="138319"/>
            <a:ext cx="12192000" cy="6996499"/>
            <a:chOff x="-12654116" y="-5996896"/>
            <a:chExt cx="12192000" cy="69964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D0B524-0C67-4ECE-BCDD-D935CDDBC3DF}"/>
                </a:ext>
              </a:extLst>
            </p:cNvPr>
            <p:cNvGrpSpPr/>
            <p:nvPr/>
          </p:nvGrpSpPr>
          <p:grpSpPr>
            <a:xfrm>
              <a:off x="-12654116" y="-5996896"/>
              <a:ext cx="12192000" cy="6996499"/>
              <a:chOff x="0" y="-6604695"/>
              <a:chExt cx="12192000" cy="6996499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2DDA20-1BE6-465B-AC40-85FCB7A76DE3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Defining ‘</a:t>
                </a:r>
                <a:r>
                  <a:rPr lang="en-US" sz="2400" b="1" dirty="0" err="1"/>
                  <a:t>SalePrice</a:t>
                </a:r>
                <a:r>
                  <a:rPr lang="en-US" sz="2400" b="1" dirty="0"/>
                  <a:t>’ feature as the Target variable for Regression</a:t>
                </a:r>
              </a:p>
              <a:p>
                <a:pPr algn="ctr"/>
                <a:endParaRPr lang="en-US" sz="2400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5E5FCB7A-FB77-4985-BE2D-06A37164651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528A45-33BE-40E3-9D81-3256ADE8189A}"/>
                </a:ext>
              </a:extLst>
            </p:cNvPr>
            <p:cNvSpPr txBox="1"/>
            <p:nvPr/>
          </p:nvSpPr>
          <p:spPr>
            <a:xfrm>
              <a:off x="-8244114" y="-5660571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E72AB-ADA5-4ADF-8AFD-068E9C6D3951}"/>
              </a:ext>
            </a:extLst>
          </p:cNvPr>
          <p:cNvGrpSpPr/>
          <p:nvPr/>
        </p:nvGrpSpPr>
        <p:grpSpPr>
          <a:xfrm>
            <a:off x="0" y="261621"/>
            <a:ext cx="12192000" cy="6996499"/>
            <a:chOff x="11267767" y="-5996896"/>
            <a:chExt cx="12192000" cy="69964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6C48168-CCC9-474B-A986-AE4E1B15CF99}"/>
                </a:ext>
              </a:extLst>
            </p:cNvPr>
            <p:cNvGrpSpPr/>
            <p:nvPr/>
          </p:nvGrpSpPr>
          <p:grpSpPr>
            <a:xfrm>
              <a:off x="11267767" y="-5996896"/>
              <a:ext cx="12192000" cy="6996499"/>
              <a:chOff x="0" y="-6604695"/>
              <a:chExt cx="12192000" cy="6996499"/>
            </a:xfrm>
            <a:solidFill>
              <a:schemeClr val="tx2">
                <a:lumMod val="75000"/>
              </a:schemeClr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1BC780-9F83-403E-BF27-49699DC31BF4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Deriving Price_Category feature for Classification</a:t>
                </a: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87D260F2-D78F-4F9F-8D64-5C9A85DFD20D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B09D6-0182-4073-B031-793FAEA8F57E}"/>
                </a:ext>
              </a:extLst>
            </p:cNvPr>
            <p:cNvSpPr txBox="1"/>
            <p:nvPr/>
          </p:nvSpPr>
          <p:spPr>
            <a:xfrm>
              <a:off x="15934110" y="-5606551"/>
              <a:ext cx="2859314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02.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7A0446-82C6-4595-87A0-C977D06DB7B4}"/>
              </a:ext>
            </a:extLst>
          </p:cNvPr>
          <p:cNvGrpSpPr/>
          <p:nvPr/>
        </p:nvGrpSpPr>
        <p:grpSpPr>
          <a:xfrm>
            <a:off x="0" y="32208"/>
            <a:ext cx="12192000" cy="6996499"/>
            <a:chOff x="433" y="-8040539"/>
            <a:chExt cx="12192000" cy="69964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B8327F-0F91-44DA-AF65-7210D9472C65}"/>
                </a:ext>
              </a:extLst>
            </p:cNvPr>
            <p:cNvGrpSpPr/>
            <p:nvPr/>
          </p:nvGrpSpPr>
          <p:grpSpPr>
            <a:xfrm>
              <a:off x="433" y="-8040539"/>
              <a:ext cx="12192000" cy="6996499"/>
              <a:chOff x="0" y="-6604695"/>
              <a:chExt cx="12192000" cy="699649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33FBCE5-E1CC-4A6F-AA98-2E5B0E566B7C}"/>
                  </a:ext>
                </a:extLst>
              </p:cNvPr>
              <p:cNvSpPr/>
              <p:nvPr/>
            </p:nvSpPr>
            <p:spPr>
              <a:xfrm>
                <a:off x="0" y="-6604695"/>
                <a:ext cx="12192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Outlining the Validation Strategy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Implementing Cross-Validation with 5 Folds</a:t>
                </a: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1E73C365-03D4-40AC-91E8-3275C2C15B6C}"/>
                  </a:ext>
                </a:extLst>
              </p:cNvPr>
              <p:cNvSpPr/>
              <p:nvPr/>
            </p:nvSpPr>
            <p:spPr>
              <a:xfrm rot="10800000">
                <a:off x="6429375" y="243327"/>
                <a:ext cx="248516" cy="148477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1A2646-8231-4B01-9620-7C3FF5FA1D90}"/>
                </a:ext>
              </a:extLst>
            </p:cNvPr>
            <p:cNvSpPr txBox="1"/>
            <p:nvPr/>
          </p:nvSpPr>
          <p:spPr>
            <a:xfrm>
              <a:off x="4619838" y="-7487397"/>
              <a:ext cx="2859314" cy="1446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/>
                <a:t>03.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DC709F0-CF2A-4F1C-93DF-2BEFD52A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50" y="8748739"/>
            <a:ext cx="2676899" cy="207674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FF47C1-55E0-4F87-AB9A-95FEAC7DB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971571"/>
              </p:ext>
            </p:extLst>
          </p:nvPr>
        </p:nvGraphicFramePr>
        <p:xfrm>
          <a:off x="2365374" y="4415170"/>
          <a:ext cx="8128000" cy="184912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294276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92935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616118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40801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09476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81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4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366110"/>
                  </a:ext>
                </a:extLst>
              </a:tr>
              <a:tr h="263119"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45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53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886</Words>
  <Application>Microsoft Office PowerPoint</Application>
  <PresentationFormat>Widescreen</PresentationFormat>
  <Paragraphs>285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PMingLiU-ExtB</vt:lpstr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13</cp:revision>
  <dcterms:created xsi:type="dcterms:W3CDTF">2026-05-24T17:49:20Z</dcterms:created>
  <dcterms:modified xsi:type="dcterms:W3CDTF">2026-05-25T11:44:36Z</dcterms:modified>
</cp:coreProperties>
</file>